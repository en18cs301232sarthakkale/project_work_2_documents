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70" r:id="rId4"/>
    <p:sldId id="261" r:id="rId5"/>
    <p:sldId id="275" r:id="rId6"/>
    <p:sldId id="276" r:id="rId7"/>
    <p:sldId id="277" r:id="rId8"/>
    <p:sldId id="271" r:id="rId9"/>
    <p:sldId id="278" r:id="rId10"/>
    <p:sldId id="279" r:id="rId11"/>
    <p:sldId id="272" r:id="rId12"/>
    <p:sldId id="273" r:id="rId13"/>
    <p:sldId id="274" r:id="rId14"/>
    <p:sldId id="269"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8F34B2-62AB-0A9B-208F-1AB2624B8ACC}" v="6" dt="2021-11-19T11:29:53.380"/>
    <p1510:client id="{22FE9A07-BF89-3CFC-F1A1-F80BE4A1C668}" v="94" dt="2021-10-04T05:13:54.994"/>
    <p1510:client id="{376D6243-0C94-D2ED-BA36-E2E34417582C}" v="8" dt="2022-02-24T05:41:41.670"/>
    <p1510:client id="{61EDCC7E-4E27-42DE-88EF-D2502DDAA177}" v="1363" dt="2021-09-14T03:42:52.063"/>
    <p1510:client id="{63909694-B5BF-6D86-6EF3-25DC1030EF08}" v="1" dt="2022-03-23T02:33:06.269"/>
    <p1510:client id="{6919E947-DAB1-4781-AE88-D0AA6D49AE38}" v="2" dt="2021-10-24T14:16:58.314"/>
    <p1510:client id="{7A753C18-8597-5298-2337-7CF848AAF8AD}" v="22" dt="2021-11-19T11:27:21.385"/>
    <p1510:client id="{9181394B-D624-3262-7830-ECBFD22C045B}" v="361" dt="2022-03-31T11:58:29.738"/>
    <p1510:client id="{9256D546-C11C-2EB7-0A75-0AFA643C28C8}" v="54" dt="2021-09-27T08:07:05.585"/>
    <p1510:client id="{A378B792-7A8C-EDF6-CA3A-9318AB4738F1}" v="797" dt="2022-03-31T07:17:52.303"/>
    <p1510:client id="{ADF7E5C5-C139-2246-9F99-F4449A544196}" v="3" dt="2022-02-20T05:03:27.092"/>
    <p1510:client id="{BA50E5AD-EFD2-7CCC-85C9-4F48127E2F00}" v="2051" dt="2021-09-20T04:36:17.403"/>
    <p1510:client id="{E608E1CC-7E4A-8E0B-80B0-FC413F610E6D}" v="361" dt="2022-02-19T17:29:38.189"/>
    <p1510:client id="{F9D3D3C9-DE86-E979-62C2-AAC0E0087C6E}" v="28" dt="2022-05-07T07:38:58.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07/05/2022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07/05/2022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07/05/2022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07/05/2022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07/05/2022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07/05/2022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07/05/2022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07/05/2022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07/05/2022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rive.google.com/file/d/1HUo6PN1ii_AhN4v7U86ETUvEURsO0cPW/view?usp=sharing" TargetMode="External"/><Relationship Id="rId2" Type="http://schemas.openxmlformats.org/officeDocument/2006/relationships/hyperlink" Target="https://drive.google.com/file/d/1vYiumJiMhAKgrobQrTsBNkrdSHqkFXDl/view?usp=sharing" TargetMode="External"/><Relationship Id="rId1" Type="http://schemas.openxmlformats.org/officeDocument/2006/relationships/slideLayout" Target="../slideLayouts/slideLayout2.xml"/><Relationship Id="rId5" Type="http://schemas.openxmlformats.org/officeDocument/2006/relationships/hyperlink" Target="https://drive.google.com/file/d/1vVW8AZ7apSv2EpifRXadlBroW-VUL_3z/view?usp=sharing" TargetMode="External"/><Relationship Id="rId4" Type="http://schemas.openxmlformats.org/officeDocument/2006/relationships/hyperlink" Target="https://drive.google.com/file/d/1S7s_tD1m9H64bQQxD0iYqKM3Zqywcjtl/view?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rive.google.com/file/d/1N3IfUS-96N5LPCNBidrVpkVrOOMshD3W/view?usp=shar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3"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2"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3"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4"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5"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1"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BE1DAA82-E83D-422D-88EF-840F819B7495}"/>
              </a:ext>
            </a:extLst>
          </p:cNvPr>
          <p:cNvSpPr>
            <a:spLocks noGrp="1"/>
          </p:cNvSpPr>
          <p:nvPr>
            <p:ph type="title"/>
          </p:nvPr>
        </p:nvSpPr>
        <p:spPr>
          <a:xfrm>
            <a:off x="888631" y="4760132"/>
            <a:ext cx="3947420" cy="1777829"/>
          </a:xfrm>
        </p:spPr>
        <p:txBody>
          <a:bodyPr vert="horz" lIns="91440" tIns="45720" rIns="91440" bIns="45720" rtlCol="0" anchor="ctr">
            <a:normAutofit/>
          </a:bodyPr>
          <a:lstStyle/>
          <a:p>
            <a:r>
              <a:rPr lang="en-US" sz="2800" b="1" dirty="0"/>
              <a:t>Project Work – II (Out-house)</a:t>
            </a:r>
            <a:br>
              <a:rPr lang="en-US" sz="2800" b="1" kern="1200" dirty="0"/>
            </a:br>
            <a:r>
              <a:rPr lang="en-US" sz="2800" b="1" kern="1200" dirty="0">
                <a:latin typeface="+mj-lt"/>
                <a:ea typeface="+mj-ea"/>
                <a:cs typeface="+mj-cs"/>
              </a:rPr>
              <a:t>Session: </a:t>
            </a:r>
            <a:r>
              <a:rPr lang="en-US" sz="2800" b="1" dirty="0"/>
              <a:t>Jan-May 2022</a:t>
            </a:r>
            <a:endParaRPr lang="en-US" sz="2800" b="1" kern="1200" dirty="0"/>
          </a:p>
        </p:txBody>
      </p:sp>
      <p:sp>
        <p:nvSpPr>
          <p:cNvPr id="33" name="Freeform: Shape 32">
            <a:extLst>
              <a:ext uri="{FF2B5EF4-FFF2-40B4-BE49-F238E27FC236}">
                <a16:creationId xmlns:a16="http://schemas.microsoft.com/office/drawing/2014/main" id="{44C110BA-81E8-4247-853A-5F2B93E9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37825"/>
          </a:xfrm>
          <a:custGeom>
            <a:avLst/>
            <a:gdLst>
              <a:gd name="connsiteX0" fmla="*/ 0 w 12192000"/>
              <a:gd name="connsiteY0" fmla="*/ 0 h 4537825"/>
              <a:gd name="connsiteX1" fmla="*/ 12192000 w 12192000"/>
              <a:gd name="connsiteY1" fmla="*/ 0 h 4537825"/>
              <a:gd name="connsiteX2" fmla="*/ 12192000 w 12192000"/>
              <a:gd name="connsiteY2" fmla="*/ 3020937 h 4537825"/>
              <a:gd name="connsiteX3" fmla="*/ 12192000 w 12192000"/>
              <a:gd name="connsiteY3" fmla="*/ 3213062 h 4537825"/>
              <a:gd name="connsiteX4" fmla="*/ 12192000 w 12192000"/>
              <a:gd name="connsiteY4" fmla="*/ 4188880 h 4537825"/>
              <a:gd name="connsiteX5" fmla="*/ 12113803 w 12192000"/>
              <a:gd name="connsiteY5" fmla="*/ 4197163 h 4537825"/>
              <a:gd name="connsiteX6" fmla="*/ 6753597 w 12192000"/>
              <a:gd name="connsiteY6" fmla="*/ 4520720 h 4537825"/>
              <a:gd name="connsiteX7" fmla="*/ 400746 w 12192000"/>
              <a:gd name="connsiteY7" fmla="*/ 4349377 h 4537825"/>
              <a:gd name="connsiteX8" fmla="*/ 0 w 12192000"/>
              <a:gd name="connsiteY8" fmla="*/ 4312401 h 4537825"/>
              <a:gd name="connsiteX9" fmla="*/ 0 w 12192000"/>
              <a:gd name="connsiteY9" fmla="*/ 3213062 h 4537825"/>
              <a:gd name="connsiteX10" fmla="*/ 0 w 12192000"/>
              <a:gd name="connsiteY10" fmla="*/ 3020937 h 453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537825">
                <a:moveTo>
                  <a:pt x="0" y="0"/>
                </a:moveTo>
                <a:lnTo>
                  <a:pt x="12192000" y="0"/>
                </a:lnTo>
                <a:lnTo>
                  <a:pt x="12192000" y="3020937"/>
                </a:lnTo>
                <a:lnTo>
                  <a:pt x="12192000" y="3213062"/>
                </a:lnTo>
                <a:lnTo>
                  <a:pt x="12192000" y="4188880"/>
                </a:lnTo>
                <a:lnTo>
                  <a:pt x="12113803" y="4197163"/>
                </a:lnTo>
                <a:cubicBezTo>
                  <a:pt x="10139508" y="4395112"/>
                  <a:pt x="8237152" y="4488115"/>
                  <a:pt x="6753597" y="4520720"/>
                </a:cubicBezTo>
                <a:cubicBezTo>
                  <a:pt x="4940362" y="4560569"/>
                  <a:pt x="2657278" y="4541239"/>
                  <a:pt x="400746" y="4349377"/>
                </a:cubicBezTo>
                <a:lnTo>
                  <a:pt x="0" y="4312401"/>
                </a:lnTo>
                <a:lnTo>
                  <a:pt x="0" y="3213062"/>
                </a:lnTo>
                <a:lnTo>
                  <a:pt x="0" y="3020937"/>
                </a:lnTo>
                <a:close/>
              </a:path>
            </a:pathLst>
          </a:custGeom>
          <a:solidFill>
            <a:schemeClr val="tx1"/>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B31D998A-8F98-4F38-A4ED-1973658C1B49}"/>
              </a:ext>
            </a:extLst>
          </p:cNvPr>
          <p:cNvSpPr txBox="1"/>
          <p:nvPr/>
        </p:nvSpPr>
        <p:spPr>
          <a:xfrm>
            <a:off x="5119289" y="4663277"/>
            <a:ext cx="6957503" cy="197906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2400" b="1" dirty="0"/>
              <a:t>Submitted By: Sarthak Kale (EN18CS301232)</a:t>
            </a:r>
            <a:endParaRPr lang="en-US" sz="2400" dirty="0">
              <a:cs typeface="Calibri"/>
            </a:endParaRPr>
          </a:p>
          <a:p>
            <a:pPr>
              <a:lnSpc>
                <a:spcPct val="90000"/>
              </a:lnSpc>
              <a:spcAft>
                <a:spcPts val="600"/>
              </a:spcAft>
            </a:pPr>
            <a:r>
              <a:rPr lang="en-US" sz="2400" b="1" dirty="0"/>
              <a:t>Coordinator: Mr. </a:t>
            </a:r>
            <a:r>
              <a:rPr lang="en-US" sz="2400" b="1" dirty="0" err="1"/>
              <a:t>Sachin</a:t>
            </a:r>
            <a:r>
              <a:rPr lang="en-US" sz="2400" b="1" dirty="0"/>
              <a:t> Solanki</a:t>
            </a:r>
            <a:endParaRPr lang="en-US" sz="2400" b="1" dirty="0">
              <a:cs typeface="Calibri" panose="020F0502020204030204"/>
            </a:endParaRPr>
          </a:p>
          <a:p>
            <a:pPr>
              <a:lnSpc>
                <a:spcPct val="90000"/>
              </a:lnSpc>
              <a:spcAft>
                <a:spcPts val="600"/>
              </a:spcAft>
            </a:pPr>
            <a:r>
              <a:rPr lang="en-US" sz="2400" b="1" dirty="0"/>
              <a:t>Submitted To: Ms. Swati Tahiliani</a:t>
            </a:r>
            <a:endParaRPr lang="en-US" sz="2400" b="1" dirty="0">
              <a:cs typeface="Calibri" panose="020F0502020204030204"/>
            </a:endParaRPr>
          </a:p>
        </p:txBody>
      </p:sp>
      <p:pic>
        <p:nvPicPr>
          <p:cNvPr id="3" name="Picture 3" descr="A picture containing text&#10;&#10;Description automatically generated">
            <a:extLst>
              <a:ext uri="{FF2B5EF4-FFF2-40B4-BE49-F238E27FC236}">
                <a16:creationId xmlns:a16="http://schemas.microsoft.com/office/drawing/2014/main" id="{8355CAA6-4ABE-4DD1-A3BA-35C6503BFC36}"/>
              </a:ext>
            </a:extLst>
          </p:cNvPr>
          <p:cNvPicPr>
            <a:picLocks noChangeAspect="1"/>
          </p:cNvPicPr>
          <p:nvPr/>
        </p:nvPicPr>
        <p:blipFill>
          <a:blip r:embed="rId2"/>
          <a:stretch>
            <a:fillRect/>
          </a:stretch>
        </p:blipFill>
        <p:spPr>
          <a:xfrm>
            <a:off x="1758462" y="1190648"/>
            <a:ext cx="8792306" cy="2225873"/>
          </a:xfrm>
          <a:prstGeom prst="rect">
            <a:avLst/>
          </a:prstGeom>
        </p:spPr>
      </p:pic>
    </p:spTree>
    <p:extLst>
      <p:ext uri="{BB962C8B-B14F-4D97-AF65-F5344CB8AC3E}">
        <p14:creationId xmlns:p14="http://schemas.microsoft.com/office/powerpoint/2010/main" val="206084670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Introduction</a:t>
            </a:r>
            <a:endParaRPr lang="en-GB" dirty="0">
              <a:solidFill>
                <a:schemeClr val="bg1"/>
              </a:solidFill>
              <a:ea typeface="Calibri Light"/>
              <a:cs typeface="Calibri Light"/>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583932" y="1007712"/>
            <a:ext cx="5645369" cy="4589380"/>
          </a:xfrm>
        </p:spPr>
        <p:txBody>
          <a:bodyPr vert="horz" lIns="91440" tIns="45720" rIns="91440" bIns="45720" rtlCol="0" anchor="ctr">
            <a:noAutofit/>
          </a:bodyPr>
          <a:lstStyle/>
          <a:p>
            <a:pPr>
              <a:buNone/>
            </a:pPr>
            <a:r>
              <a:rPr lang="en-GB" sz="1600" dirty="0" err="1">
                <a:latin typeface="Arial"/>
                <a:ea typeface="+mn-lt"/>
                <a:cs typeface="+mn-lt"/>
              </a:rPr>
              <a:t>ParallelDots</a:t>
            </a:r>
            <a:r>
              <a:rPr lang="en-GB" sz="1600" dirty="0">
                <a:latin typeface="Arial"/>
                <a:ea typeface="+mn-lt"/>
                <a:cs typeface="+mn-lt"/>
              </a:rPr>
              <a:t> is a start-up from Gurugram, India which was incorporated on 22 November 2022. </a:t>
            </a:r>
            <a:r>
              <a:rPr lang="en-GB" sz="1600" dirty="0" err="1">
                <a:latin typeface="Arial"/>
                <a:ea typeface="+mn-lt"/>
                <a:cs typeface="+mn-lt"/>
              </a:rPr>
              <a:t>ParallelDots</a:t>
            </a:r>
            <a:r>
              <a:rPr lang="en-GB" sz="1600" dirty="0">
                <a:latin typeface="Arial"/>
                <a:ea typeface="+mn-lt"/>
                <a:cs typeface="+mn-lt"/>
              </a:rPr>
              <a:t>’ </a:t>
            </a:r>
            <a:r>
              <a:rPr lang="en-GB" sz="1600" dirty="0" err="1">
                <a:latin typeface="Arial"/>
                <a:ea typeface="+mn-lt"/>
                <a:cs typeface="+mn-lt"/>
              </a:rPr>
              <a:t>Shelfwatch</a:t>
            </a:r>
            <a:r>
              <a:rPr lang="en-GB" sz="1600" dirty="0">
                <a:latin typeface="Arial"/>
                <a:ea typeface="+mn-lt"/>
                <a:cs typeface="+mn-lt"/>
              </a:rPr>
              <a:t> analyses images of retail shelf display and supplies corrective feedback that helps CPG &amp; Retail brands supercharge their retail execution. It can be considered as a software that uses image recognition for Perfect Retail Execution and Performance Indicators Calculation. The major clients of </a:t>
            </a:r>
            <a:r>
              <a:rPr lang="en-GB" sz="1600" dirty="0" err="1">
                <a:latin typeface="Arial"/>
                <a:ea typeface="+mn-lt"/>
                <a:cs typeface="+mn-lt"/>
              </a:rPr>
              <a:t>ParallelDots</a:t>
            </a:r>
            <a:r>
              <a:rPr lang="en-GB" sz="1600" dirty="0">
                <a:latin typeface="Arial"/>
                <a:ea typeface="+mn-lt"/>
                <a:cs typeface="+mn-lt"/>
              </a:rPr>
              <a:t> include ITC, SPAR Cooperation, Mondelez Internation, </a:t>
            </a:r>
            <a:r>
              <a:rPr lang="en-GB" sz="1600" dirty="0" err="1">
                <a:latin typeface="Arial"/>
                <a:ea typeface="+mn-lt"/>
                <a:cs typeface="+mn-lt"/>
              </a:rPr>
              <a:t>Uniliver</a:t>
            </a:r>
            <a:r>
              <a:rPr lang="en-GB" sz="1600" dirty="0">
                <a:latin typeface="Arial"/>
                <a:ea typeface="+mn-lt"/>
                <a:cs typeface="+mn-lt"/>
              </a:rPr>
              <a:t>, etc. The major technologies are Python3.5, MySQL, NodeJS, ReactJS, Android, HTML, etc. The company includes about 70+ employees.</a:t>
            </a:r>
            <a:endParaRPr lang="en-GB" sz="1600">
              <a:latin typeface="Arial"/>
              <a:cs typeface="Arial"/>
            </a:endParaRPr>
          </a:p>
        </p:txBody>
      </p:sp>
    </p:spTree>
    <p:extLst>
      <p:ext uri="{BB962C8B-B14F-4D97-AF65-F5344CB8AC3E}">
        <p14:creationId xmlns:p14="http://schemas.microsoft.com/office/powerpoint/2010/main" val="4215109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Internship Details</a:t>
            </a: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162827" y="640081"/>
            <a:ext cx="6420737" cy="5257800"/>
          </a:xfrm>
        </p:spPr>
        <p:txBody>
          <a:bodyPr vert="horz" lIns="91440" tIns="45720" rIns="91440" bIns="45720" rtlCol="0" anchor="ctr">
            <a:noAutofit/>
          </a:bodyPr>
          <a:lstStyle/>
          <a:p>
            <a:pPr marL="0" indent="0">
              <a:buNone/>
            </a:pPr>
            <a:r>
              <a:rPr lang="en-GB" dirty="0">
                <a:latin typeface="Arial"/>
                <a:cs typeface="Calibri"/>
              </a:rPr>
              <a:t>Internship: </a:t>
            </a:r>
            <a:r>
              <a:rPr lang="en-GB" b="1" dirty="0">
                <a:latin typeface="Arial"/>
                <a:cs typeface="Calibri"/>
              </a:rPr>
              <a:t>Back-end Developer at </a:t>
            </a:r>
            <a:r>
              <a:rPr lang="en-GB" b="1" dirty="0">
                <a:latin typeface="Arial"/>
                <a:ea typeface="+mn-lt"/>
                <a:cs typeface="+mn-lt"/>
              </a:rPr>
              <a:t>PARALLELDOTS TECHNOLOGY PRIVATE LIMITED</a:t>
            </a:r>
            <a:endParaRPr lang="en-GB" b="1" dirty="0">
              <a:latin typeface="Arial"/>
              <a:cs typeface="Calibri"/>
            </a:endParaRPr>
          </a:p>
          <a:p>
            <a:pPr marL="0" indent="0">
              <a:buNone/>
            </a:pPr>
            <a:r>
              <a:rPr lang="en-GB" dirty="0">
                <a:latin typeface="Arial"/>
                <a:cs typeface="Calibri"/>
              </a:rPr>
              <a:t>Type: </a:t>
            </a:r>
            <a:r>
              <a:rPr lang="en-GB" b="1" dirty="0">
                <a:latin typeface="Arial"/>
                <a:cs typeface="Calibri"/>
              </a:rPr>
              <a:t>Company-based Internship</a:t>
            </a:r>
          </a:p>
          <a:p>
            <a:pPr marL="0" indent="0">
              <a:buNone/>
            </a:pPr>
            <a:r>
              <a:rPr lang="en-GB" dirty="0">
                <a:latin typeface="Arial"/>
                <a:cs typeface="Calibri"/>
              </a:rPr>
              <a:t>Mentor: </a:t>
            </a:r>
            <a:r>
              <a:rPr lang="en-GB" b="1" dirty="0">
                <a:latin typeface="Arial"/>
                <a:cs typeface="Calibri"/>
              </a:rPr>
              <a:t>Yash Prajapati (HR Manager)</a:t>
            </a:r>
          </a:p>
          <a:p>
            <a:pPr marL="0" indent="0">
              <a:buNone/>
            </a:pPr>
            <a:r>
              <a:rPr lang="en-GB" dirty="0">
                <a:latin typeface="Arial"/>
                <a:cs typeface="Calibri"/>
              </a:rPr>
              <a:t>Duration: </a:t>
            </a:r>
            <a:r>
              <a:rPr lang="en-GB" b="1" dirty="0">
                <a:latin typeface="Arial"/>
                <a:cs typeface="Calibri"/>
              </a:rPr>
              <a:t>January – June 2022</a:t>
            </a:r>
          </a:p>
          <a:p>
            <a:pPr marL="0" indent="0">
              <a:buNone/>
            </a:pPr>
            <a:r>
              <a:rPr lang="en-GB" dirty="0">
                <a:latin typeface="Arial"/>
                <a:cs typeface="Arial"/>
              </a:rPr>
              <a:t>Designation: </a:t>
            </a:r>
            <a:r>
              <a:rPr lang="en-GB" b="1" dirty="0">
                <a:latin typeface="Arial"/>
                <a:cs typeface="Arial"/>
              </a:rPr>
              <a:t>Backend Software Developer</a:t>
            </a:r>
          </a:p>
        </p:txBody>
      </p:sp>
    </p:spTree>
    <p:extLst>
      <p:ext uri="{BB962C8B-B14F-4D97-AF65-F5344CB8AC3E}">
        <p14:creationId xmlns:p14="http://schemas.microsoft.com/office/powerpoint/2010/main" val="3343367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Company Documents</a:t>
            </a:r>
            <a:endParaRPr lang="en-US" dirty="0">
              <a:solidFill>
                <a:schemeClr val="bg1"/>
              </a:solidFill>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4990753" y="640081"/>
            <a:ext cx="6860179" cy="5257800"/>
          </a:xfrm>
        </p:spPr>
        <p:txBody>
          <a:bodyPr vert="horz" lIns="91440" tIns="45720" rIns="91440" bIns="45720" rtlCol="0" anchor="ctr">
            <a:noAutofit/>
          </a:bodyPr>
          <a:lstStyle/>
          <a:p>
            <a:r>
              <a:rPr lang="en-GB" sz="2400" dirty="0">
                <a:latin typeface="Arial"/>
                <a:cs typeface="Calibri"/>
              </a:rPr>
              <a:t>MCA Proof:</a:t>
            </a:r>
            <a:r>
              <a:rPr lang="en-GB" sz="2000" dirty="0">
                <a:latin typeface="Arial"/>
                <a:cs typeface="Calibri"/>
              </a:rPr>
              <a:t> </a:t>
            </a:r>
            <a:r>
              <a:rPr lang="en-GB" sz="2000" dirty="0">
                <a:latin typeface="Arial"/>
                <a:cs typeface="Calibri"/>
                <a:hlinkClick r:id="rId2"/>
              </a:rPr>
              <a:t>EN18CS301232_MCA_PDF</a:t>
            </a:r>
            <a:endParaRPr lang="en-GB" sz="2000" dirty="0">
              <a:latin typeface="Arial"/>
              <a:ea typeface="Calibri"/>
              <a:cs typeface="Calibri"/>
            </a:endParaRPr>
          </a:p>
          <a:p>
            <a:r>
              <a:rPr lang="en-GB" sz="2400" dirty="0">
                <a:latin typeface="Arial"/>
                <a:cs typeface="Calibri"/>
              </a:rPr>
              <a:t>CIN Number:</a:t>
            </a:r>
            <a:r>
              <a:rPr lang="en-GB" sz="2000" dirty="0">
                <a:latin typeface="Arial"/>
                <a:cs typeface="Calibri"/>
              </a:rPr>
              <a:t> U74999DL2017FTC326231</a:t>
            </a:r>
          </a:p>
          <a:p>
            <a:r>
              <a:rPr lang="en-GB" sz="2400" dirty="0">
                <a:latin typeface="Arial"/>
                <a:cs typeface="Calibri"/>
              </a:rPr>
              <a:t>Offer Letter Proof:</a:t>
            </a:r>
            <a:r>
              <a:rPr lang="en-GB" sz="2000" dirty="0">
                <a:latin typeface="Arial"/>
                <a:cs typeface="Calibri"/>
              </a:rPr>
              <a:t> </a:t>
            </a:r>
            <a:r>
              <a:rPr lang="en-GB" sz="2000" dirty="0">
                <a:latin typeface="Arial"/>
                <a:ea typeface="+mn-lt"/>
                <a:cs typeface="+mn-lt"/>
                <a:hlinkClick r:id="rId3"/>
              </a:rPr>
              <a:t>EN18CS301232_OfferLetter_PDF</a:t>
            </a:r>
          </a:p>
          <a:p>
            <a:r>
              <a:rPr lang="en-GB" sz="2400" dirty="0">
                <a:latin typeface="Arial"/>
                <a:ea typeface="Calibri"/>
                <a:cs typeface="Calibri"/>
              </a:rPr>
              <a:t>Ten Crore Proof:</a:t>
            </a:r>
            <a:r>
              <a:rPr lang="en-GB" sz="2000" dirty="0">
                <a:latin typeface="Arial"/>
                <a:ea typeface="Calibri"/>
                <a:cs typeface="Calibri"/>
              </a:rPr>
              <a:t> </a:t>
            </a:r>
            <a:r>
              <a:rPr lang="en-GB" sz="2000" dirty="0">
                <a:latin typeface="Arial"/>
                <a:ea typeface="Calibri"/>
                <a:cs typeface="Calibri"/>
                <a:hlinkClick r:id="rId4"/>
              </a:rPr>
              <a:t>EN18CS301232_TenCr_PDF</a:t>
            </a:r>
          </a:p>
          <a:p>
            <a:r>
              <a:rPr lang="en-GB" sz="2400" dirty="0">
                <a:latin typeface="Arial"/>
                <a:ea typeface="Calibri"/>
                <a:cs typeface="Calibri"/>
              </a:rPr>
              <a:t>Internship Certificate:</a:t>
            </a:r>
            <a:r>
              <a:rPr lang="en-GB" sz="2000" dirty="0">
                <a:latin typeface="Arial"/>
                <a:ea typeface="Calibri"/>
                <a:cs typeface="Calibri"/>
              </a:rPr>
              <a:t> </a:t>
            </a:r>
            <a:r>
              <a:rPr lang="en-GB" sz="2000" dirty="0">
                <a:latin typeface="Arial"/>
                <a:ea typeface="Calibri"/>
                <a:cs typeface="Calibri"/>
                <a:hlinkClick r:id="rId5"/>
              </a:rPr>
              <a:t>EN18CS301232_Internship_Certificate_PDF</a:t>
            </a:r>
          </a:p>
        </p:txBody>
      </p:sp>
    </p:spTree>
    <p:extLst>
      <p:ext uri="{BB962C8B-B14F-4D97-AF65-F5344CB8AC3E}">
        <p14:creationId xmlns:p14="http://schemas.microsoft.com/office/powerpoint/2010/main" val="2370972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530620" y="640080"/>
            <a:ext cx="3556748" cy="5257800"/>
          </a:xfrm>
        </p:spPr>
        <p:txBody>
          <a:bodyPr>
            <a:normAutofit/>
          </a:bodyPr>
          <a:lstStyle/>
          <a:p>
            <a:r>
              <a:rPr lang="en-GB" dirty="0">
                <a:solidFill>
                  <a:schemeClr val="bg1"/>
                </a:solidFill>
                <a:cs typeface="Calibri Light"/>
              </a:rPr>
              <a:t>Marketing Terminologies</a:t>
            </a:r>
            <a:endParaRPr lang="en-US" dirty="0"/>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4990753" y="292503"/>
            <a:ext cx="6860179" cy="6206956"/>
          </a:xfrm>
        </p:spPr>
        <p:txBody>
          <a:bodyPr vert="horz" lIns="91440" tIns="45720" rIns="91440" bIns="45720" rtlCol="0" anchor="ctr">
            <a:noAutofit/>
          </a:bodyPr>
          <a:lstStyle/>
          <a:p>
            <a:pPr>
              <a:buAutoNum type="arabicPeriod"/>
            </a:pPr>
            <a:r>
              <a:rPr lang="en-GB" sz="1400" b="1" dirty="0">
                <a:latin typeface="Arial"/>
                <a:ea typeface="Calibri"/>
                <a:cs typeface="Calibri"/>
              </a:rPr>
              <a:t>Stock Management</a:t>
            </a:r>
            <a:r>
              <a:rPr lang="en-GB" sz="1400" dirty="0">
                <a:latin typeface="Arial"/>
                <a:ea typeface="Calibri"/>
                <a:cs typeface="Calibri"/>
              </a:rPr>
              <a:t> </a:t>
            </a:r>
            <a:r>
              <a:rPr lang="en-GB" sz="1400" dirty="0">
                <a:latin typeface="Arial"/>
                <a:ea typeface="+mn-lt"/>
                <a:cs typeface="+mn-lt"/>
              </a:rPr>
              <a:t>Stock management commonly known as inventory management is the function of understanding the stock mix of a company and the different demands on that stock. The demands are influenced by both external and internal factors and are balanced by the creation of purchase order requests to keep supplies at a reasonable or prescribed level. Inventory management is important for every other business enterprise. Stock management refers to the process of ordering, storing, using, and selling a company's inventory. This includes the management of raw materials, components, and finished products, as well as warehousing and processing of such items.</a:t>
            </a:r>
            <a:endParaRPr lang="en-US" sz="1400">
              <a:latin typeface="Arial"/>
              <a:ea typeface="Calibri" panose="020F0502020204030204"/>
              <a:cs typeface="Calibri" panose="020F0502020204030204"/>
            </a:endParaRPr>
          </a:p>
          <a:p>
            <a:pPr>
              <a:buAutoNum type="arabicPeriod"/>
            </a:pPr>
            <a:r>
              <a:rPr lang="en-GB" sz="1400" b="1" dirty="0">
                <a:latin typeface="Arial"/>
                <a:ea typeface="Calibri"/>
                <a:cs typeface="Calibri"/>
              </a:rPr>
              <a:t>Planogram</a:t>
            </a:r>
            <a:r>
              <a:rPr lang="en-GB" sz="1400" dirty="0">
                <a:latin typeface="Arial"/>
                <a:ea typeface="Calibri"/>
                <a:cs typeface="Calibri"/>
              </a:rPr>
              <a:t> </a:t>
            </a:r>
            <a:r>
              <a:rPr lang="en-GB" sz="1400" dirty="0">
                <a:latin typeface="Arial"/>
                <a:ea typeface="+mn-lt"/>
                <a:cs typeface="+mn-lt"/>
              </a:rPr>
              <a:t>Planograms, also known as Plano-grams, plan-o-grams, schematics and POGs, are visual representations of a store's products or services on display. They are considered a tool for visual merchandising. A planogram is a diagram that shows how and where specific retail products should be placed on retail shelves or displays to increase customer purchases. A planogram is a schematic tool retailers use to plan their store layout to maximize sales and customer experience. Planograms place special attention on product placement and displays as well as point-of-sale (POS) location(s).</a:t>
            </a:r>
            <a:endParaRPr lang="en-GB" sz="1400" dirty="0">
              <a:latin typeface="Arial"/>
              <a:ea typeface="Calibri" panose="020F0502020204030204"/>
              <a:cs typeface="Calibri" panose="020F0502020204030204"/>
            </a:endParaRPr>
          </a:p>
          <a:p>
            <a:pPr>
              <a:buAutoNum type="arabicPeriod"/>
            </a:pPr>
            <a:r>
              <a:rPr lang="en-GB" sz="1400" b="1" dirty="0">
                <a:latin typeface="Arial"/>
                <a:ea typeface="Calibri"/>
                <a:cs typeface="Calibri"/>
              </a:rPr>
              <a:t>SKU</a:t>
            </a:r>
            <a:r>
              <a:rPr lang="en-GB" sz="1400" dirty="0">
                <a:latin typeface="Arial"/>
                <a:ea typeface="Calibri"/>
                <a:cs typeface="Calibri"/>
              </a:rPr>
              <a:t> </a:t>
            </a:r>
            <a:r>
              <a:rPr lang="en-GB" sz="1400" dirty="0">
                <a:latin typeface="Arial"/>
                <a:ea typeface="+mn-lt"/>
                <a:cs typeface="+mn-lt"/>
              </a:rPr>
              <a:t>In the field of inventory management, a stock keeping unit (SKU) is a distinct type of item for sale, bought, or tracked in inventory, such as a product or service, and all attributes associated with the item type that distinguish it from other item types. A stock-keeping unit (SKU) is a scannable bar code, most often seen printed on product labels in a retail store. The label allows vendors to automatically track the movement of inventory. The SKU is composed of an alphanumeric combination of eight-or-so characters.</a:t>
            </a:r>
          </a:p>
          <a:p>
            <a:pPr>
              <a:buAutoNum type="arabicPeriod"/>
            </a:pPr>
            <a:r>
              <a:rPr lang="en-GB" sz="1400" b="1" dirty="0">
                <a:latin typeface="Arial"/>
                <a:ea typeface="Calibri"/>
                <a:cs typeface="Calibri"/>
              </a:rPr>
              <a:t>Shelf</a:t>
            </a:r>
            <a:r>
              <a:rPr lang="en-GB" sz="1400" dirty="0">
                <a:latin typeface="Arial"/>
                <a:ea typeface="Calibri"/>
                <a:cs typeface="Calibri"/>
              </a:rPr>
              <a:t> </a:t>
            </a:r>
            <a:r>
              <a:rPr lang="en-GB" sz="1400" dirty="0">
                <a:latin typeface="Arial"/>
                <a:ea typeface="+mn-lt"/>
                <a:cs typeface="+mn-lt"/>
              </a:rPr>
              <a:t>A Shelf can be shown as a single row in a planogram, which can hold a specific collection of SKU or object.</a:t>
            </a:r>
            <a:endParaRPr lang="en-GB" sz="1400">
              <a:latin typeface="Arial"/>
              <a:cs typeface="Arial"/>
            </a:endParaRPr>
          </a:p>
        </p:txBody>
      </p:sp>
    </p:spTree>
    <p:extLst>
      <p:ext uri="{BB962C8B-B14F-4D97-AF65-F5344CB8AC3E}">
        <p14:creationId xmlns:p14="http://schemas.microsoft.com/office/powerpoint/2010/main" val="973543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530620" y="640080"/>
            <a:ext cx="3556748" cy="5257800"/>
          </a:xfrm>
        </p:spPr>
        <p:txBody>
          <a:bodyPr>
            <a:normAutofit/>
          </a:bodyPr>
          <a:lstStyle/>
          <a:p>
            <a:r>
              <a:rPr lang="en-GB" dirty="0">
                <a:solidFill>
                  <a:schemeClr val="bg1"/>
                </a:solidFill>
                <a:cs typeface="Calibri Light"/>
              </a:rPr>
              <a:t>Marketing Terminologies</a:t>
            </a:r>
            <a:endParaRPr lang="en-US" dirty="0"/>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4990753" y="640081"/>
            <a:ext cx="6860179" cy="5257800"/>
          </a:xfrm>
        </p:spPr>
        <p:txBody>
          <a:bodyPr vert="horz" lIns="91440" tIns="45720" rIns="91440" bIns="45720" rtlCol="0" anchor="ctr">
            <a:noAutofit/>
          </a:bodyPr>
          <a:lstStyle/>
          <a:p>
            <a:pPr marL="342900" indent="-342900">
              <a:buAutoNum type="arabicPeriod"/>
            </a:pPr>
            <a:r>
              <a:rPr lang="en-GB" sz="1400" b="1" dirty="0">
                <a:latin typeface="Arial"/>
                <a:ea typeface="Calibri"/>
                <a:cs typeface="Calibri"/>
              </a:rPr>
              <a:t>Self-Product</a:t>
            </a:r>
            <a:r>
              <a:rPr lang="en-GB" sz="1400" dirty="0">
                <a:latin typeface="Arial"/>
                <a:ea typeface="Calibri"/>
                <a:cs typeface="Calibri"/>
              </a:rPr>
              <a:t> </a:t>
            </a:r>
            <a:r>
              <a:rPr lang="en-GB" sz="1400" dirty="0">
                <a:latin typeface="Arial"/>
                <a:ea typeface="+mn-lt"/>
                <a:cs typeface="+mn-lt"/>
              </a:rPr>
              <a:t>A self-product is an SKU which is developed by the client. All the SKUs which are being produced by the client are considered as Self-Products.</a:t>
            </a:r>
            <a:endParaRPr lang="en-US">
              <a:latin typeface="Arial"/>
              <a:ea typeface="Calibri" panose="020F0502020204030204"/>
              <a:cs typeface="Calibri" panose="020F0502020204030204"/>
            </a:endParaRPr>
          </a:p>
          <a:p>
            <a:pPr marL="342900" indent="-342900">
              <a:buAutoNum type="arabicPeriod"/>
            </a:pPr>
            <a:r>
              <a:rPr lang="en-GB" sz="1400" b="1" dirty="0">
                <a:latin typeface="Arial"/>
                <a:ea typeface="Calibri"/>
                <a:cs typeface="Calibri"/>
              </a:rPr>
              <a:t>Competitor-Product</a:t>
            </a:r>
            <a:r>
              <a:rPr lang="en-GB" sz="1400" dirty="0">
                <a:latin typeface="Arial"/>
                <a:ea typeface="Calibri"/>
                <a:cs typeface="Calibri"/>
              </a:rPr>
              <a:t> </a:t>
            </a:r>
            <a:r>
              <a:rPr lang="en-GB" sz="1400" dirty="0">
                <a:latin typeface="Arial"/>
                <a:ea typeface="+mn-lt"/>
                <a:cs typeface="+mn-lt"/>
              </a:rPr>
              <a:t>A competitor-product is an SKU which is not developed by the client but is of same category and both kind of SKUs are present in the same planogram. All the SKUs not produced by client which are present on the common planogram are considered as Competitor-Products.</a:t>
            </a:r>
          </a:p>
          <a:p>
            <a:pPr marL="342900" indent="-342900">
              <a:buAutoNum type="arabicPeriod"/>
            </a:pPr>
            <a:r>
              <a:rPr lang="en-GB" sz="1400" b="1" dirty="0">
                <a:latin typeface="Arial"/>
                <a:ea typeface="Calibri" panose="020F0502020204030204"/>
                <a:cs typeface="Calibri" panose="020F0502020204030204"/>
              </a:rPr>
              <a:t>KPI</a:t>
            </a:r>
            <a:r>
              <a:rPr lang="en-GB" sz="1400" dirty="0">
                <a:latin typeface="Arial"/>
                <a:ea typeface="Calibri" panose="020F0502020204030204"/>
                <a:cs typeface="Calibri" panose="020F0502020204030204"/>
              </a:rPr>
              <a:t> </a:t>
            </a:r>
            <a:r>
              <a:rPr lang="en-GB" sz="1400" dirty="0">
                <a:latin typeface="Arial"/>
                <a:ea typeface="+mn-lt"/>
                <a:cs typeface="+mn-lt"/>
              </a:rPr>
              <a:t>A performance indicator or key performance indicator (KPI) is a type of performance measurement. KPIs evaluate the success of an organization or of a particular activity in which it engages. KPI stands for key performance indicator, a quantifiable measure of performance over time for a specific goal. KPIs supply targets for teams to shoot for, milestones to gauge progress, and insights that help people across the organization make better decisions. Often success is simply the repeated, periodic achievement of some levels of operational goal and sometimes success is defined in terms of making progress toward strategic goals. Accordingly, choosing the right KPIs relies upon a good understanding of what is important to the organization. What is considered important often depends on the department measuring the performance – e.g., the KPIs useful to finance will differ from the KPIs assigned to sales.</a:t>
            </a:r>
            <a:endParaRPr lang="en-GB" sz="1400">
              <a:latin typeface="Arial"/>
              <a:cs typeface="Arial"/>
            </a:endParaRPr>
          </a:p>
        </p:txBody>
      </p:sp>
    </p:spTree>
    <p:extLst>
      <p:ext uri="{BB962C8B-B14F-4D97-AF65-F5344CB8AC3E}">
        <p14:creationId xmlns:p14="http://schemas.microsoft.com/office/powerpoint/2010/main" val="277251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530620" y="640080"/>
            <a:ext cx="3556748" cy="5257800"/>
          </a:xfrm>
        </p:spPr>
        <p:txBody>
          <a:bodyPr>
            <a:normAutofit/>
          </a:bodyPr>
          <a:lstStyle/>
          <a:p>
            <a:r>
              <a:rPr lang="en-GB" dirty="0">
                <a:solidFill>
                  <a:schemeClr val="bg1"/>
                </a:solidFill>
                <a:cs typeface="Calibri Light"/>
              </a:rPr>
              <a:t>Planogram -&gt;</a:t>
            </a:r>
            <a:br>
              <a:rPr lang="en-GB" dirty="0">
                <a:solidFill>
                  <a:schemeClr val="bg1"/>
                </a:solidFill>
                <a:cs typeface="Calibri Light"/>
              </a:rPr>
            </a:br>
            <a:br>
              <a:rPr lang="en-GB" dirty="0">
                <a:cs typeface="Calibri Light"/>
              </a:rPr>
            </a:br>
            <a:br>
              <a:rPr lang="en-GB" dirty="0">
                <a:cs typeface="Calibri Light"/>
              </a:rPr>
            </a:br>
            <a:r>
              <a:rPr lang="en-GB" dirty="0">
                <a:solidFill>
                  <a:schemeClr val="bg1"/>
                </a:solidFill>
                <a:cs typeface="Calibri Light"/>
              </a:rPr>
              <a:t>Shelf -&gt;</a:t>
            </a:r>
            <a:br>
              <a:rPr lang="en-GB" dirty="0">
                <a:solidFill>
                  <a:schemeClr val="bg1"/>
                </a:solidFill>
                <a:cs typeface="Calibri Light"/>
              </a:rPr>
            </a:br>
            <a:br>
              <a:rPr lang="en-GB" dirty="0">
                <a:solidFill>
                  <a:schemeClr val="bg1"/>
                </a:solidFill>
                <a:cs typeface="Calibri Light"/>
              </a:rPr>
            </a:br>
            <a:br>
              <a:rPr lang="en-GB" dirty="0">
                <a:cs typeface="Calibri Light"/>
              </a:rPr>
            </a:br>
            <a:r>
              <a:rPr lang="en-GB" dirty="0">
                <a:solidFill>
                  <a:schemeClr val="bg1"/>
                </a:solidFill>
                <a:cs typeface="Calibri Light"/>
              </a:rPr>
              <a:t>SKUs -&gt;</a:t>
            </a: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4990753" y="292503"/>
            <a:ext cx="6860179" cy="6206956"/>
          </a:xfrm>
        </p:spPr>
        <p:txBody>
          <a:bodyPr vert="horz" lIns="91440" tIns="45720" rIns="91440" bIns="45720" rtlCol="0" anchor="ctr">
            <a:noAutofit/>
          </a:bodyPr>
          <a:lstStyle/>
          <a:p>
            <a:pPr marL="0" indent="0">
              <a:buNone/>
            </a:pPr>
            <a:endParaRPr lang="en-GB" sz="1400" dirty="0">
              <a:latin typeface="Arial"/>
              <a:cs typeface="Calibri"/>
            </a:endParaRPr>
          </a:p>
        </p:txBody>
      </p:sp>
      <p:pic>
        <p:nvPicPr>
          <p:cNvPr id="4" name="Picture 4" descr="Diagram&#10;&#10;Description automatically generated">
            <a:extLst>
              <a:ext uri="{FF2B5EF4-FFF2-40B4-BE49-F238E27FC236}">
                <a16:creationId xmlns:a16="http://schemas.microsoft.com/office/drawing/2014/main" id="{7D13E619-339C-966C-080E-708F7F7F1BDD}"/>
              </a:ext>
            </a:extLst>
          </p:cNvPr>
          <p:cNvPicPr>
            <a:picLocks noChangeAspect="1"/>
          </p:cNvPicPr>
          <p:nvPr/>
        </p:nvPicPr>
        <p:blipFill>
          <a:blip r:embed="rId2"/>
          <a:stretch>
            <a:fillRect/>
          </a:stretch>
        </p:blipFill>
        <p:spPr>
          <a:xfrm>
            <a:off x="5123544" y="543053"/>
            <a:ext cx="6444342" cy="1940123"/>
          </a:xfrm>
          <a:prstGeom prst="rect">
            <a:avLst/>
          </a:prstGeom>
        </p:spPr>
      </p:pic>
      <p:pic>
        <p:nvPicPr>
          <p:cNvPr id="5" name="Picture 5">
            <a:extLst>
              <a:ext uri="{FF2B5EF4-FFF2-40B4-BE49-F238E27FC236}">
                <a16:creationId xmlns:a16="http://schemas.microsoft.com/office/drawing/2014/main" id="{1F8DDE64-3599-A9C1-100A-474B09A9195F}"/>
              </a:ext>
            </a:extLst>
          </p:cNvPr>
          <p:cNvPicPr>
            <a:picLocks noChangeAspect="1"/>
          </p:cNvPicPr>
          <p:nvPr/>
        </p:nvPicPr>
        <p:blipFill>
          <a:blip r:embed="rId3"/>
          <a:stretch>
            <a:fillRect/>
          </a:stretch>
        </p:blipFill>
        <p:spPr>
          <a:xfrm>
            <a:off x="5174344" y="3012115"/>
            <a:ext cx="6335485" cy="935369"/>
          </a:xfrm>
          <a:prstGeom prst="rect">
            <a:avLst/>
          </a:prstGeom>
        </p:spPr>
      </p:pic>
      <p:pic>
        <p:nvPicPr>
          <p:cNvPr id="6" name="Picture 6" descr="A picture containing red&#10;&#10;Description automatically generated">
            <a:extLst>
              <a:ext uri="{FF2B5EF4-FFF2-40B4-BE49-F238E27FC236}">
                <a16:creationId xmlns:a16="http://schemas.microsoft.com/office/drawing/2014/main" id="{3726B41B-1E66-47D4-BE7F-F2B9CF3BB60E}"/>
              </a:ext>
            </a:extLst>
          </p:cNvPr>
          <p:cNvPicPr>
            <a:picLocks noChangeAspect="1"/>
          </p:cNvPicPr>
          <p:nvPr/>
        </p:nvPicPr>
        <p:blipFill>
          <a:blip r:embed="rId4"/>
          <a:stretch>
            <a:fillRect/>
          </a:stretch>
        </p:blipFill>
        <p:spPr>
          <a:xfrm>
            <a:off x="5877605" y="4242254"/>
            <a:ext cx="1133475" cy="1494065"/>
          </a:xfrm>
          <a:prstGeom prst="rect">
            <a:avLst/>
          </a:prstGeom>
        </p:spPr>
      </p:pic>
      <p:pic>
        <p:nvPicPr>
          <p:cNvPr id="7" name="Picture 8">
            <a:extLst>
              <a:ext uri="{FF2B5EF4-FFF2-40B4-BE49-F238E27FC236}">
                <a16:creationId xmlns:a16="http://schemas.microsoft.com/office/drawing/2014/main" id="{240C4D4A-2DA3-6245-BAF4-CD271A540857}"/>
              </a:ext>
            </a:extLst>
          </p:cNvPr>
          <p:cNvPicPr>
            <a:picLocks noChangeAspect="1"/>
          </p:cNvPicPr>
          <p:nvPr/>
        </p:nvPicPr>
        <p:blipFill>
          <a:blip r:embed="rId5"/>
          <a:stretch>
            <a:fillRect/>
          </a:stretch>
        </p:blipFill>
        <p:spPr>
          <a:xfrm>
            <a:off x="8039327" y="4241801"/>
            <a:ext cx="1019175" cy="1487715"/>
          </a:xfrm>
          <a:prstGeom prst="rect">
            <a:avLst/>
          </a:prstGeom>
        </p:spPr>
      </p:pic>
      <p:pic>
        <p:nvPicPr>
          <p:cNvPr id="9" name="Picture 10" descr="A picture containing clothing&#10;&#10;Description automatically generated">
            <a:extLst>
              <a:ext uri="{FF2B5EF4-FFF2-40B4-BE49-F238E27FC236}">
                <a16:creationId xmlns:a16="http://schemas.microsoft.com/office/drawing/2014/main" id="{0CA23EBE-74D3-A91A-4F95-4EC428453F26}"/>
              </a:ext>
            </a:extLst>
          </p:cNvPr>
          <p:cNvPicPr>
            <a:picLocks noChangeAspect="1"/>
          </p:cNvPicPr>
          <p:nvPr/>
        </p:nvPicPr>
        <p:blipFill>
          <a:blip r:embed="rId6"/>
          <a:stretch>
            <a:fillRect/>
          </a:stretch>
        </p:blipFill>
        <p:spPr>
          <a:xfrm>
            <a:off x="9787390" y="4239532"/>
            <a:ext cx="904875" cy="1484993"/>
          </a:xfrm>
          <a:prstGeom prst="rect">
            <a:avLst/>
          </a:prstGeom>
        </p:spPr>
      </p:pic>
    </p:spTree>
    <p:extLst>
      <p:ext uri="{BB962C8B-B14F-4D97-AF65-F5344CB8AC3E}">
        <p14:creationId xmlns:p14="http://schemas.microsoft.com/office/powerpoint/2010/main" val="1275555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Company Work Profile</a:t>
            </a:r>
            <a:endParaRPr lang="en-US" dirty="0">
              <a:solidFill>
                <a:schemeClr val="bg1"/>
              </a:solidFill>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191279" y="379397"/>
            <a:ext cx="6532653" cy="6073273"/>
          </a:xfrm>
        </p:spPr>
        <p:txBody>
          <a:bodyPr vert="horz" lIns="91440" tIns="45720" rIns="91440" bIns="45720" rtlCol="0" anchor="ctr">
            <a:noAutofit/>
          </a:bodyPr>
          <a:lstStyle/>
          <a:p>
            <a:pPr>
              <a:buNone/>
            </a:pPr>
            <a:r>
              <a:rPr lang="en-GB" sz="1400" dirty="0">
                <a:latin typeface="Arial"/>
                <a:ea typeface="+mn-lt"/>
                <a:cs typeface="+mn-lt"/>
              </a:rPr>
              <a:t>In this company, I am working as a Backend Software Developer. </a:t>
            </a:r>
            <a:endParaRPr lang="en-US">
              <a:latin typeface="Arial"/>
              <a:ea typeface="+mn-lt"/>
              <a:cs typeface="+mn-lt"/>
            </a:endParaRPr>
          </a:p>
          <a:p>
            <a:pPr>
              <a:buNone/>
            </a:pPr>
            <a:r>
              <a:rPr lang="en-GB" sz="1400" dirty="0">
                <a:latin typeface="Arial"/>
                <a:ea typeface="+mn-lt"/>
                <a:cs typeface="+mn-lt"/>
              </a:rPr>
              <a:t>The primary technologies that I have been working on include Python and MySQL. Also, I have hands-on experience on Git, Django, Flask Framework and AWS Cloud services.</a:t>
            </a:r>
            <a:endParaRPr lang="en-GB" dirty="0">
              <a:latin typeface="Arial"/>
              <a:cs typeface="Arial"/>
            </a:endParaRPr>
          </a:p>
          <a:p>
            <a:pPr>
              <a:buNone/>
            </a:pPr>
            <a:r>
              <a:rPr lang="en-GB" sz="1400" dirty="0">
                <a:latin typeface="Arial"/>
                <a:ea typeface="+mn-lt"/>
                <a:cs typeface="+mn-lt"/>
              </a:rPr>
              <a:t>The clients capture and upload images on the </a:t>
            </a:r>
            <a:r>
              <a:rPr lang="en-GB" sz="1400" dirty="0" err="1">
                <a:latin typeface="Arial"/>
                <a:ea typeface="+mn-lt"/>
                <a:cs typeface="+mn-lt"/>
              </a:rPr>
              <a:t>ShelfWatch</a:t>
            </a:r>
            <a:r>
              <a:rPr lang="en-GB" sz="1400" dirty="0">
                <a:latin typeface="Arial"/>
                <a:ea typeface="+mn-lt"/>
                <a:cs typeface="+mn-lt"/>
              </a:rPr>
              <a:t> android application. These images are then uploaded on AWS S3 bucket. These images are passed through a process of image-recognition and object-tagging by data-scientists and taggers. These tagged images’ data gets uploaded in S3 bucket. This data is fetched and is used to calculate the set of KPIs which were specified by client and is returned as table data for individual client-output-sheet in the bucket. These tables are then further used to display the generated KPIs on front-end with 2 different displays i.e., Dashboard and Gallery in the Android application for client-specific users.</a:t>
            </a:r>
            <a:endParaRPr lang="en-GB" dirty="0">
              <a:latin typeface="Arial"/>
              <a:cs typeface="Arial"/>
            </a:endParaRPr>
          </a:p>
          <a:p>
            <a:pPr>
              <a:buNone/>
            </a:pPr>
            <a:r>
              <a:rPr lang="en-GB" sz="1400" dirty="0">
                <a:latin typeface="Arial"/>
                <a:ea typeface="+mn-lt"/>
                <a:cs typeface="+mn-lt"/>
              </a:rPr>
              <a:t>This is the entire working cycle of </a:t>
            </a:r>
            <a:r>
              <a:rPr lang="en-GB" sz="1400" dirty="0" err="1">
                <a:latin typeface="Arial"/>
                <a:ea typeface="+mn-lt"/>
                <a:cs typeface="+mn-lt"/>
              </a:rPr>
              <a:t>ShelfWatch</a:t>
            </a:r>
            <a:r>
              <a:rPr lang="en-GB" sz="1400" dirty="0">
                <a:latin typeface="Arial"/>
                <a:ea typeface="+mn-lt"/>
                <a:cs typeface="+mn-lt"/>
              </a:rPr>
              <a:t> application for a particular client.</a:t>
            </a:r>
            <a:endParaRPr lang="en-GB" dirty="0">
              <a:latin typeface="Arial"/>
              <a:cs typeface="Arial"/>
            </a:endParaRPr>
          </a:p>
        </p:txBody>
      </p:sp>
    </p:spTree>
    <p:extLst>
      <p:ext uri="{BB962C8B-B14F-4D97-AF65-F5344CB8AC3E}">
        <p14:creationId xmlns:p14="http://schemas.microsoft.com/office/powerpoint/2010/main" val="2657631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Brief about Python</a:t>
            </a:r>
            <a:endParaRPr lang="en-US" dirty="0">
              <a:solidFill>
                <a:schemeClr val="bg1"/>
              </a:solidFill>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191279" y="880712"/>
            <a:ext cx="6532653" cy="4870116"/>
          </a:xfrm>
        </p:spPr>
        <p:txBody>
          <a:bodyPr vert="horz" lIns="91440" tIns="45720" rIns="91440" bIns="45720" rtlCol="0" anchor="ctr">
            <a:noAutofit/>
          </a:bodyPr>
          <a:lstStyle/>
          <a:p>
            <a:pPr>
              <a:buNone/>
            </a:pPr>
            <a:r>
              <a:rPr lang="en-GB" sz="1400" b="1" dirty="0">
                <a:latin typeface="Arial"/>
                <a:cs typeface="Calibri"/>
              </a:rPr>
              <a:t>Python</a:t>
            </a:r>
            <a:r>
              <a:rPr lang="en-GB" sz="1400" dirty="0">
                <a:latin typeface="Arial"/>
                <a:cs typeface="Calibri"/>
              </a:rPr>
              <a:t> was developed by </a:t>
            </a:r>
            <a:r>
              <a:rPr lang="en-GB" sz="1400" dirty="0">
                <a:latin typeface="Arial"/>
                <a:ea typeface="+mn-lt"/>
                <a:cs typeface="+mn-lt"/>
              </a:rPr>
              <a:t>Guido van Rossum and was released in 1991.</a:t>
            </a:r>
            <a:endParaRPr lang="en-US">
              <a:cs typeface="Calibri" panose="020F0502020204030204"/>
            </a:endParaRPr>
          </a:p>
          <a:p>
            <a:pPr>
              <a:buNone/>
            </a:pPr>
            <a:r>
              <a:rPr lang="en-GB" sz="1400" dirty="0">
                <a:latin typeface="Arial"/>
                <a:ea typeface="+mn-lt"/>
                <a:cs typeface="+mn-lt"/>
              </a:rPr>
              <a:t>A scripting language is one that is interpreted. Python is an interpreted language. Python uses an interpreter to translate and run its code. Hence Python is a scripting language.</a:t>
            </a:r>
          </a:p>
          <a:p>
            <a:pPr>
              <a:buNone/>
            </a:pPr>
            <a:r>
              <a:rPr lang="en-GB" sz="1400" dirty="0">
                <a:latin typeface="Arial"/>
                <a:ea typeface="+mn-lt"/>
                <a:cs typeface="+mn-lt"/>
              </a:rPr>
              <a:t>Python is a high-level, general-purpose programming language. Its design philosophy emphasizes code readability with the use of significant indentation. Its language constructs and object-oriented approach aim to help programmers write clear, logical code for small- and large-scale projects.</a:t>
            </a:r>
          </a:p>
          <a:p>
            <a:pPr>
              <a:buNone/>
            </a:pPr>
            <a:r>
              <a:rPr lang="en-GB" sz="1400" b="1" dirty="0">
                <a:latin typeface="Arial"/>
                <a:ea typeface="+mn-lt"/>
                <a:cs typeface="+mn-lt"/>
              </a:rPr>
              <a:t>Pandas</a:t>
            </a:r>
            <a:r>
              <a:rPr lang="en-GB" sz="1400" dirty="0">
                <a:latin typeface="Arial"/>
                <a:ea typeface="+mn-lt"/>
                <a:cs typeface="+mn-lt"/>
              </a:rPr>
              <a:t> is a software library written for the Python programming language for data manipulation and analysis. In particular, it offers data structures and operations for manipulating numerical tables and time series. It is free software released under the three-clause BSD license.</a:t>
            </a:r>
            <a:endParaRPr lang="en-GB">
              <a:latin typeface="Arial"/>
              <a:cs typeface="Arial"/>
            </a:endParaRPr>
          </a:p>
        </p:txBody>
      </p:sp>
    </p:spTree>
    <p:extLst>
      <p:ext uri="{BB962C8B-B14F-4D97-AF65-F5344CB8AC3E}">
        <p14:creationId xmlns:p14="http://schemas.microsoft.com/office/powerpoint/2010/main" val="4037095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Brief about MySQL and CSV</a:t>
            </a:r>
            <a:endParaRPr lang="en-US" dirty="0">
              <a:solidFill>
                <a:schemeClr val="bg1"/>
              </a:solidFill>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191279" y="880712"/>
            <a:ext cx="6532653" cy="4870116"/>
          </a:xfrm>
        </p:spPr>
        <p:txBody>
          <a:bodyPr vert="horz" lIns="91440" tIns="45720" rIns="91440" bIns="45720" rtlCol="0" anchor="ctr">
            <a:noAutofit/>
          </a:bodyPr>
          <a:lstStyle/>
          <a:p>
            <a:pPr>
              <a:buNone/>
            </a:pPr>
            <a:r>
              <a:rPr lang="en-GB" sz="1400" b="1" dirty="0">
                <a:latin typeface="Arial"/>
                <a:cs typeface="Calibri"/>
              </a:rPr>
              <a:t>MySQL</a:t>
            </a:r>
            <a:r>
              <a:rPr lang="en-GB" sz="1400" dirty="0">
                <a:latin typeface="Arial"/>
                <a:cs typeface="Calibri"/>
              </a:rPr>
              <a:t> was developed by </a:t>
            </a:r>
            <a:r>
              <a:rPr lang="en-GB" sz="1400" dirty="0">
                <a:latin typeface="Arial"/>
                <a:ea typeface="+mn-lt"/>
                <a:cs typeface="+mn-lt"/>
              </a:rPr>
              <a:t>Michael </a:t>
            </a:r>
            <a:r>
              <a:rPr lang="en-GB" sz="1400" dirty="0" err="1">
                <a:latin typeface="Arial"/>
                <a:ea typeface="+mn-lt"/>
                <a:cs typeface="+mn-lt"/>
              </a:rPr>
              <a:t>Widenius</a:t>
            </a:r>
            <a:r>
              <a:rPr lang="en-GB" sz="1400" dirty="0">
                <a:latin typeface="Arial"/>
                <a:ea typeface="+mn-lt"/>
                <a:cs typeface="+mn-lt"/>
              </a:rPr>
              <a:t> and was released in 1995.</a:t>
            </a:r>
            <a:endParaRPr lang="en-US">
              <a:cs typeface="Calibri" panose="020F0502020204030204"/>
            </a:endParaRPr>
          </a:p>
          <a:p>
            <a:pPr>
              <a:buNone/>
            </a:pPr>
            <a:r>
              <a:rPr lang="en-GB" sz="1400" dirty="0">
                <a:latin typeface="Arial"/>
                <a:ea typeface="+mn-lt"/>
                <a:cs typeface="+mn-lt"/>
              </a:rPr>
              <a:t>MySQL is an open-source relational database management system. Its name is a combination of "My", the name of co-founder Michael </a:t>
            </a:r>
            <a:r>
              <a:rPr lang="en-GB" sz="1400" dirty="0" err="1">
                <a:latin typeface="Arial"/>
                <a:ea typeface="+mn-lt"/>
                <a:cs typeface="+mn-lt"/>
              </a:rPr>
              <a:t>Widenius's</a:t>
            </a:r>
            <a:r>
              <a:rPr lang="en-GB" sz="1400" dirty="0">
                <a:latin typeface="Arial"/>
                <a:ea typeface="+mn-lt"/>
                <a:cs typeface="+mn-lt"/>
              </a:rPr>
              <a:t> daughter, and "SQL", the abbreviation for Structured Query Language.</a:t>
            </a:r>
            <a:endParaRPr lang="en-GB">
              <a:latin typeface="Arial"/>
              <a:cs typeface="Arial"/>
            </a:endParaRPr>
          </a:p>
          <a:p>
            <a:pPr>
              <a:buNone/>
            </a:pPr>
            <a:r>
              <a:rPr lang="en-GB" sz="1400" dirty="0">
                <a:latin typeface="Arial"/>
                <a:ea typeface="+mn-lt"/>
                <a:cs typeface="+mn-lt"/>
              </a:rPr>
              <a:t>The application is used for a wide range of purposes, including data warehousing, e-commerce, and logging applications. The most common use for MySQL, however, is for the purpose of a web database.</a:t>
            </a:r>
            <a:endParaRPr lang="en-GB">
              <a:latin typeface="Arial"/>
              <a:cs typeface="Arial"/>
            </a:endParaRPr>
          </a:p>
          <a:p>
            <a:pPr>
              <a:buNone/>
            </a:pPr>
            <a:r>
              <a:rPr lang="en-GB" sz="1400" b="1" dirty="0">
                <a:latin typeface="Arial"/>
                <a:ea typeface="+mn-lt"/>
                <a:cs typeface="+mn-lt"/>
              </a:rPr>
              <a:t>SQL </a:t>
            </a:r>
            <a:r>
              <a:rPr lang="en-GB" sz="1400" dirty="0">
                <a:latin typeface="Arial"/>
                <a:ea typeface="+mn-lt"/>
                <a:cs typeface="+mn-lt"/>
              </a:rPr>
              <a:t>is a query programming language that manages RDBMS. MySQL is a relational database management system that uses SQL. SQL is primarily used to query and operate database systems. MySQL allows you to handle, store, modify and delete data and store data in an organized way.</a:t>
            </a:r>
            <a:endParaRPr lang="en-GB">
              <a:latin typeface="Arial"/>
              <a:ea typeface="+mn-lt"/>
              <a:cs typeface="+mn-lt"/>
            </a:endParaRPr>
          </a:p>
          <a:p>
            <a:pPr>
              <a:buNone/>
            </a:pPr>
            <a:r>
              <a:rPr lang="en-GB" sz="1400" b="1" dirty="0">
                <a:latin typeface="Arial"/>
                <a:cs typeface="Calibri"/>
              </a:rPr>
              <a:t>CSV</a:t>
            </a:r>
            <a:r>
              <a:rPr lang="en-GB" sz="1400" dirty="0">
                <a:latin typeface="Arial"/>
                <a:cs typeface="Calibri"/>
              </a:rPr>
              <a:t> </a:t>
            </a:r>
            <a:r>
              <a:rPr lang="en-GB" sz="1400" dirty="0">
                <a:latin typeface="Arial"/>
                <a:ea typeface="+mn-lt"/>
                <a:cs typeface="+mn-lt"/>
              </a:rPr>
              <a:t>A comma-separated values file is a delimited text file that uses a comma to separate values. Each line of the file is a data record. Each record consists of one or more fields, separated by commas. The use of the comma as a field separator is the source of the name for this file format.</a:t>
            </a:r>
          </a:p>
        </p:txBody>
      </p:sp>
    </p:spTree>
    <p:extLst>
      <p:ext uri="{BB962C8B-B14F-4D97-AF65-F5344CB8AC3E}">
        <p14:creationId xmlns:p14="http://schemas.microsoft.com/office/powerpoint/2010/main" val="3661794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My Tasks as Developer</a:t>
            </a:r>
            <a:endParaRPr lang="en-GB" dirty="0">
              <a:solidFill>
                <a:schemeClr val="bg1"/>
              </a:solidFill>
              <a:ea typeface="Calibri Light"/>
              <a:cs typeface="Calibri Light"/>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191279" y="747028"/>
            <a:ext cx="6525969" cy="5244432"/>
          </a:xfrm>
        </p:spPr>
        <p:txBody>
          <a:bodyPr vert="horz" lIns="91440" tIns="45720" rIns="91440" bIns="45720" rtlCol="0" anchor="ctr">
            <a:noAutofit/>
          </a:bodyPr>
          <a:lstStyle/>
          <a:p>
            <a:pPr>
              <a:buNone/>
            </a:pPr>
            <a:r>
              <a:rPr lang="en-GB" sz="1400" dirty="0">
                <a:latin typeface="Arial"/>
                <a:ea typeface="+mn-lt"/>
                <a:cs typeface="+mn-lt"/>
              </a:rPr>
              <a:t>In this internship, as explained in the above process, my primary tasks include:</a:t>
            </a:r>
            <a:endParaRPr lang="en-US" sz="1400">
              <a:latin typeface="Arial"/>
              <a:cs typeface="Arial"/>
            </a:endParaRPr>
          </a:p>
          <a:p>
            <a:pPr marL="342900" indent="-342900">
              <a:buAutoNum type="arabicPeriod"/>
            </a:pPr>
            <a:r>
              <a:rPr lang="en-GB" sz="1400" dirty="0">
                <a:latin typeface="Arial"/>
                <a:ea typeface="+mn-lt"/>
                <a:cs typeface="+mn-lt"/>
              </a:rPr>
              <a:t>Uploading the images from application to S3 bucket.</a:t>
            </a:r>
            <a:endParaRPr lang="en-GB" sz="1400" dirty="0">
              <a:latin typeface="Arial"/>
              <a:ea typeface="Calibri" panose="020F0502020204030204"/>
              <a:cs typeface="Calibri" panose="020F0502020204030204"/>
            </a:endParaRPr>
          </a:p>
          <a:p>
            <a:pPr marL="342900" indent="-342900">
              <a:buAutoNum type="arabicPeriod"/>
            </a:pPr>
            <a:r>
              <a:rPr lang="en-GB" sz="1400" dirty="0">
                <a:latin typeface="Arial"/>
                <a:ea typeface="+mn-lt"/>
                <a:cs typeface="+mn-lt"/>
              </a:rPr>
              <a:t>Calculation of KPI which are specific to a client’s requirements.</a:t>
            </a:r>
            <a:endParaRPr lang="en-GB" sz="1400" dirty="0">
              <a:latin typeface="Arial"/>
              <a:ea typeface="Calibri" panose="020F0502020204030204"/>
              <a:cs typeface="Calibri" panose="020F0502020204030204"/>
            </a:endParaRPr>
          </a:p>
          <a:p>
            <a:pPr marL="342900" indent="-342900">
              <a:buAutoNum type="arabicPeriod"/>
            </a:pPr>
            <a:r>
              <a:rPr lang="en-GB" sz="1400" dirty="0">
                <a:latin typeface="Arial"/>
                <a:ea typeface="+mn-lt"/>
                <a:cs typeface="+mn-lt"/>
              </a:rPr>
              <a:t>Creating output-dump sheet and uploading it to S3 bucket.</a:t>
            </a:r>
            <a:endParaRPr lang="en-GB" sz="1400" dirty="0">
              <a:latin typeface="Arial"/>
              <a:ea typeface="Calibri" panose="020F0502020204030204"/>
              <a:cs typeface="Calibri" panose="020F0502020204030204"/>
            </a:endParaRPr>
          </a:p>
          <a:p>
            <a:pPr marL="342900" indent="-342900">
              <a:buAutoNum type="arabicPeriod"/>
            </a:pPr>
            <a:r>
              <a:rPr lang="en-GB" sz="1400" dirty="0">
                <a:latin typeface="Arial"/>
                <a:ea typeface="+mn-lt"/>
                <a:cs typeface="+mn-lt"/>
              </a:rPr>
              <a:t>Creating daily tagging status report.</a:t>
            </a:r>
            <a:endParaRPr lang="en-GB" sz="1400" dirty="0">
              <a:latin typeface="Arial"/>
              <a:ea typeface="Calibri" panose="020F0502020204030204"/>
              <a:cs typeface="Calibri" panose="020F0502020204030204"/>
            </a:endParaRPr>
          </a:p>
          <a:p>
            <a:pPr marL="342900" indent="-342900">
              <a:buAutoNum type="arabicPeriod"/>
            </a:pPr>
            <a:r>
              <a:rPr lang="en-GB" sz="1400" dirty="0">
                <a:latin typeface="Arial"/>
                <a:ea typeface="+mn-lt"/>
                <a:cs typeface="+mn-lt"/>
              </a:rPr>
              <a:t>Created a script to daily sent the tagging-report to a group of people from business team so that they can do quality-check on tagging-report as well as client-output-sheet.</a:t>
            </a:r>
          </a:p>
          <a:p>
            <a:pPr marL="342900" indent="-342900">
              <a:buAutoNum type="arabicPeriod"/>
            </a:pPr>
            <a:r>
              <a:rPr lang="en-GB" sz="1400" dirty="0">
                <a:latin typeface="Arial"/>
                <a:ea typeface="Calibri" panose="020F0502020204030204"/>
                <a:cs typeface="Calibri" panose="020F0502020204030204"/>
              </a:rPr>
              <a:t>Updating analytics and functionalities of existing projects according to client's requirements.</a:t>
            </a:r>
          </a:p>
          <a:p>
            <a:pPr marL="342900" indent="-342900">
              <a:buAutoNum type="arabicPeriod"/>
            </a:pPr>
            <a:r>
              <a:rPr lang="en-GB" sz="1400" dirty="0">
                <a:latin typeface="Arial"/>
                <a:ea typeface="Calibri" panose="020F0502020204030204"/>
                <a:cs typeface="Calibri" panose="020F0502020204030204"/>
              </a:rPr>
              <a:t>Optimising and debugging the daily-tagging-report, dashboard and gallery analytics.</a:t>
            </a:r>
          </a:p>
        </p:txBody>
      </p:sp>
    </p:spTree>
    <p:extLst>
      <p:ext uri="{BB962C8B-B14F-4D97-AF65-F5344CB8AC3E}">
        <p14:creationId xmlns:p14="http://schemas.microsoft.com/office/powerpoint/2010/main" val="3434262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Project and Proposed Method</a:t>
            </a:r>
            <a:endParaRPr lang="en-US" dirty="0">
              <a:solidFill>
                <a:schemeClr val="bg1"/>
              </a:solidFill>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4877122" y="352660"/>
            <a:ext cx="7100810" cy="6033168"/>
          </a:xfrm>
        </p:spPr>
        <p:txBody>
          <a:bodyPr vert="horz" lIns="91440" tIns="45720" rIns="91440" bIns="45720" rtlCol="0" anchor="ctr">
            <a:noAutofit/>
          </a:bodyPr>
          <a:lstStyle/>
          <a:p>
            <a:pPr>
              <a:buNone/>
            </a:pPr>
            <a:r>
              <a:rPr lang="en-GB" sz="1400" dirty="0">
                <a:latin typeface="Arial"/>
                <a:ea typeface="+mn-lt"/>
                <a:cs typeface="+mn-lt"/>
              </a:rPr>
              <a:t>In this subject Project Work – II, I will be giving a demo project which is a Python3 Script.</a:t>
            </a:r>
            <a:endParaRPr lang="en-US" sz="1400">
              <a:latin typeface="Arial"/>
              <a:cs typeface="Arial"/>
            </a:endParaRPr>
          </a:p>
          <a:p>
            <a:pPr>
              <a:buNone/>
            </a:pPr>
            <a:r>
              <a:rPr lang="en-GB" sz="1400" dirty="0">
                <a:latin typeface="Arial"/>
                <a:ea typeface="+mn-lt"/>
                <a:cs typeface="+mn-lt"/>
              </a:rPr>
              <a:t>I will use an actual client project that I have created for Haribo-KC and will include</a:t>
            </a:r>
            <a:endParaRPr lang="en-GB" sz="1400" dirty="0">
              <a:latin typeface="Arial"/>
              <a:cs typeface="Calibri"/>
            </a:endParaRPr>
          </a:p>
          <a:p>
            <a:pPr>
              <a:buNone/>
            </a:pPr>
            <a:r>
              <a:rPr lang="en-GB" sz="1400" dirty="0">
                <a:latin typeface="Arial"/>
                <a:ea typeface="+mn-lt"/>
                <a:cs typeface="+mn-lt"/>
              </a:rPr>
              <a:t>requested KPI set.</a:t>
            </a:r>
            <a:endParaRPr lang="en-GB" sz="1400">
              <a:latin typeface="Arial"/>
              <a:cs typeface="Arial"/>
            </a:endParaRPr>
          </a:p>
          <a:p>
            <a:pPr>
              <a:buNone/>
            </a:pPr>
            <a:r>
              <a:rPr lang="en-GB" sz="1400" dirty="0">
                <a:latin typeface="Arial"/>
                <a:ea typeface="+mn-lt"/>
                <a:cs typeface="+mn-lt"/>
              </a:rPr>
              <a:t>In this real project, I had to follow the following steps:</a:t>
            </a:r>
            <a:endParaRPr lang="en-GB" sz="1400">
              <a:latin typeface="Arial"/>
              <a:cs typeface="Arial"/>
            </a:endParaRPr>
          </a:p>
          <a:p>
            <a:pPr>
              <a:buNone/>
            </a:pPr>
            <a:r>
              <a:rPr lang="en-GB" sz="1400" dirty="0">
                <a:latin typeface="Arial"/>
                <a:ea typeface="+mn-lt"/>
                <a:cs typeface="+mn-lt"/>
              </a:rPr>
              <a:t>1. Upload images from application to AWS S3 bucket. (optional)</a:t>
            </a:r>
            <a:endParaRPr lang="en-GB" sz="1400">
              <a:latin typeface="Arial"/>
              <a:cs typeface="Arial"/>
            </a:endParaRPr>
          </a:p>
          <a:p>
            <a:pPr>
              <a:buNone/>
            </a:pPr>
            <a:r>
              <a:rPr lang="en-GB" sz="1400" dirty="0">
                <a:latin typeface="Arial"/>
                <a:ea typeface="+mn-lt"/>
                <a:cs typeface="+mn-lt"/>
              </a:rPr>
              <a:t>2. Fetch tagged-images' data from AWS S3 bucket and arrange that into a usable</a:t>
            </a:r>
            <a:endParaRPr lang="en-GB" sz="1400">
              <a:latin typeface="Arial"/>
              <a:cs typeface="Arial"/>
            </a:endParaRPr>
          </a:p>
          <a:p>
            <a:pPr>
              <a:buNone/>
            </a:pPr>
            <a:r>
              <a:rPr lang="en-GB" sz="1400" dirty="0">
                <a:latin typeface="Arial"/>
                <a:ea typeface="+mn-lt"/>
                <a:cs typeface="+mn-lt"/>
              </a:rPr>
              <a:t>format.</a:t>
            </a:r>
            <a:endParaRPr lang="en-GB" sz="1400">
              <a:latin typeface="Arial"/>
              <a:cs typeface="Arial"/>
            </a:endParaRPr>
          </a:p>
          <a:p>
            <a:pPr>
              <a:buNone/>
            </a:pPr>
            <a:r>
              <a:rPr lang="en-GB" sz="1400" dirty="0">
                <a:latin typeface="Arial"/>
                <a:ea typeface="+mn-lt"/>
                <a:cs typeface="+mn-lt"/>
              </a:rPr>
              <a:t>3. Using this format, calculate the client-specific KPIs and generate a client-output sheet.</a:t>
            </a:r>
            <a:endParaRPr lang="en-GB" sz="1400">
              <a:latin typeface="Arial"/>
              <a:cs typeface="Arial"/>
            </a:endParaRPr>
          </a:p>
          <a:p>
            <a:pPr>
              <a:buNone/>
            </a:pPr>
            <a:r>
              <a:rPr lang="en-GB" sz="1400" dirty="0">
                <a:latin typeface="Arial"/>
                <a:ea typeface="+mn-lt"/>
                <a:cs typeface="+mn-lt"/>
              </a:rPr>
              <a:t>4. Upload this client-output sheet to the S3 bucket in client’s folder(optional)</a:t>
            </a:r>
            <a:endParaRPr lang="en-GB" sz="1400">
              <a:latin typeface="Arial"/>
              <a:cs typeface="Arial"/>
            </a:endParaRPr>
          </a:p>
          <a:p>
            <a:pPr>
              <a:buNone/>
            </a:pPr>
            <a:r>
              <a:rPr lang="en-GB" sz="1400" dirty="0">
                <a:latin typeface="Arial"/>
                <a:ea typeface="+mn-lt"/>
                <a:cs typeface="+mn-lt"/>
              </a:rPr>
              <a:t>5. Also generate a set of sheets which are collectively called as qc-sheets. These qc-</a:t>
            </a:r>
            <a:endParaRPr lang="en-GB" sz="1400">
              <a:latin typeface="Arial"/>
              <a:cs typeface="Arial"/>
            </a:endParaRPr>
          </a:p>
          <a:p>
            <a:pPr>
              <a:buNone/>
            </a:pPr>
            <a:r>
              <a:rPr lang="en-GB" sz="1400" dirty="0">
                <a:latin typeface="Arial"/>
                <a:ea typeface="+mn-lt"/>
                <a:cs typeface="+mn-lt"/>
              </a:rPr>
              <a:t>sheets are used for quality-check of generated output by business team members.</a:t>
            </a:r>
            <a:endParaRPr lang="en-GB" sz="1400">
              <a:latin typeface="Arial"/>
              <a:cs typeface="Arial"/>
            </a:endParaRPr>
          </a:p>
          <a:p>
            <a:pPr>
              <a:buNone/>
            </a:pPr>
            <a:r>
              <a:rPr lang="en-GB" sz="1400" dirty="0">
                <a:latin typeface="Arial"/>
                <a:ea typeface="+mn-lt"/>
                <a:cs typeface="+mn-lt"/>
              </a:rPr>
              <a:t>6. Send this qc-sheet set along with client-output sheet to the business team, a Python3</a:t>
            </a:r>
            <a:endParaRPr lang="en-GB" sz="1400">
              <a:latin typeface="Arial"/>
              <a:cs typeface="Arial"/>
            </a:endParaRPr>
          </a:p>
          <a:p>
            <a:pPr>
              <a:buNone/>
            </a:pPr>
            <a:r>
              <a:rPr lang="en-GB" sz="1400" dirty="0">
                <a:latin typeface="Arial"/>
                <a:ea typeface="+mn-lt"/>
                <a:cs typeface="+mn-lt"/>
              </a:rPr>
              <a:t>script is created to mail the data.</a:t>
            </a:r>
            <a:endParaRPr lang="en-GB" sz="1400">
              <a:latin typeface="Arial"/>
              <a:cs typeface="Arial"/>
            </a:endParaRPr>
          </a:p>
          <a:p>
            <a:pPr>
              <a:buNone/>
            </a:pPr>
            <a:r>
              <a:rPr lang="en-GB" sz="1400" dirty="0">
                <a:latin typeface="Arial"/>
                <a:ea typeface="+mn-lt"/>
                <a:cs typeface="+mn-lt"/>
              </a:rPr>
              <a:t>7. Generate ticket on Jira to setup a </a:t>
            </a:r>
            <a:r>
              <a:rPr lang="en-GB" sz="1400" dirty="0" err="1">
                <a:latin typeface="Arial"/>
                <a:ea typeface="+mn-lt"/>
                <a:cs typeface="+mn-lt"/>
              </a:rPr>
              <a:t>cron</a:t>
            </a:r>
            <a:r>
              <a:rPr lang="en-GB" sz="1400" dirty="0">
                <a:latin typeface="Arial"/>
                <a:ea typeface="+mn-lt"/>
                <a:cs typeface="+mn-lt"/>
              </a:rPr>
              <a:t>-task for daily execution of scripts once</a:t>
            </a:r>
            <a:endParaRPr lang="en-GB" sz="1400">
              <a:latin typeface="Arial"/>
              <a:cs typeface="Arial"/>
            </a:endParaRPr>
          </a:p>
          <a:p>
            <a:pPr>
              <a:buNone/>
            </a:pPr>
            <a:r>
              <a:rPr lang="en-GB" sz="1400" dirty="0">
                <a:latin typeface="Arial"/>
                <a:ea typeface="+mn-lt"/>
                <a:cs typeface="+mn-lt"/>
              </a:rPr>
              <a:t>finalised.</a:t>
            </a:r>
            <a:endParaRPr lang="en-GB" sz="1400">
              <a:latin typeface="Arial"/>
              <a:cs typeface="Arial"/>
            </a:endParaRPr>
          </a:p>
        </p:txBody>
      </p:sp>
    </p:spTree>
    <p:extLst>
      <p:ext uri="{BB962C8B-B14F-4D97-AF65-F5344CB8AC3E}">
        <p14:creationId xmlns:p14="http://schemas.microsoft.com/office/powerpoint/2010/main" val="4256682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4DF2D3-1936-4E28-8157-3B1BF78E2605}"/>
              </a:ext>
            </a:extLst>
          </p:cNvPr>
          <p:cNvSpPr>
            <a:spLocks noGrp="1"/>
          </p:cNvSpPr>
          <p:nvPr>
            <p:ph type="title"/>
          </p:nvPr>
        </p:nvSpPr>
        <p:spPr>
          <a:xfrm>
            <a:off x="804672" y="640080"/>
            <a:ext cx="3282696" cy="5257800"/>
          </a:xfrm>
        </p:spPr>
        <p:txBody>
          <a:bodyPr>
            <a:normAutofit/>
          </a:bodyPr>
          <a:lstStyle/>
          <a:p>
            <a:r>
              <a:rPr lang="en-GB" dirty="0">
                <a:solidFill>
                  <a:schemeClr val="bg1"/>
                </a:solidFill>
                <a:cs typeface="Calibri Light"/>
              </a:rPr>
              <a:t>PW-II Project Submission</a:t>
            </a:r>
            <a:endParaRPr lang="en-US" dirty="0">
              <a:solidFill>
                <a:schemeClr val="bg1"/>
              </a:solidFill>
            </a:endParaRPr>
          </a:p>
        </p:txBody>
      </p:sp>
      <p:sp>
        <p:nvSpPr>
          <p:cNvPr id="3" name="Content Placeholder 2">
            <a:extLst>
              <a:ext uri="{FF2B5EF4-FFF2-40B4-BE49-F238E27FC236}">
                <a16:creationId xmlns:a16="http://schemas.microsoft.com/office/drawing/2014/main" id="{8A24A3CF-AD15-41C6-8D74-238EFBAB8AEE}"/>
              </a:ext>
            </a:extLst>
          </p:cNvPr>
          <p:cNvSpPr>
            <a:spLocks noGrp="1"/>
          </p:cNvSpPr>
          <p:nvPr>
            <p:ph idx="1"/>
          </p:nvPr>
        </p:nvSpPr>
        <p:spPr>
          <a:xfrm>
            <a:off x="5144490" y="640081"/>
            <a:ext cx="6572758" cy="5257801"/>
          </a:xfrm>
        </p:spPr>
        <p:txBody>
          <a:bodyPr vert="horz" lIns="91440" tIns="45720" rIns="91440" bIns="45720" rtlCol="0" anchor="ctr">
            <a:noAutofit/>
          </a:bodyPr>
          <a:lstStyle/>
          <a:p>
            <a:pPr>
              <a:buNone/>
            </a:pPr>
            <a:r>
              <a:rPr lang="en-GB" sz="1400" b="1" dirty="0">
                <a:latin typeface="Arial"/>
                <a:ea typeface="+mn-lt"/>
                <a:cs typeface="+mn-lt"/>
              </a:rPr>
              <a:t>In PW2 project submission, I will submit a ZIP file which will include following:</a:t>
            </a:r>
            <a:endParaRPr lang="en-US" b="1">
              <a:latin typeface="Arial"/>
              <a:cs typeface="Arial"/>
            </a:endParaRPr>
          </a:p>
          <a:p>
            <a:pPr>
              <a:buNone/>
            </a:pPr>
            <a:r>
              <a:rPr lang="en-GB" sz="1400" dirty="0">
                <a:latin typeface="Arial"/>
                <a:ea typeface="+mn-lt"/>
                <a:cs typeface="+mn-lt"/>
              </a:rPr>
              <a:t>1. An input sheet for an entire date’s tagging data (input_data.csv)</a:t>
            </a:r>
            <a:endParaRPr lang="en-GB">
              <a:latin typeface="Arial"/>
              <a:cs typeface="Arial"/>
            </a:endParaRPr>
          </a:p>
          <a:p>
            <a:pPr>
              <a:buNone/>
            </a:pPr>
            <a:r>
              <a:rPr lang="en-GB" sz="1400" dirty="0">
                <a:latin typeface="Arial"/>
                <a:ea typeface="+mn-lt"/>
                <a:cs typeface="+mn-lt"/>
              </a:rPr>
              <a:t>2. An output sheet which holds result with data and columns according to client’s</a:t>
            </a:r>
            <a:endParaRPr lang="en-GB">
              <a:latin typeface="Arial"/>
              <a:cs typeface="Arial"/>
            </a:endParaRPr>
          </a:p>
          <a:p>
            <a:pPr>
              <a:buNone/>
            </a:pPr>
            <a:r>
              <a:rPr lang="en-GB" sz="1400" dirty="0">
                <a:latin typeface="Arial"/>
                <a:ea typeface="+mn-lt"/>
                <a:cs typeface="+mn-lt"/>
              </a:rPr>
              <a:t>requirements (result_df.csv)</a:t>
            </a:r>
            <a:endParaRPr lang="en-GB">
              <a:latin typeface="Arial"/>
              <a:cs typeface="Arial"/>
            </a:endParaRPr>
          </a:p>
          <a:p>
            <a:pPr>
              <a:buNone/>
            </a:pPr>
            <a:r>
              <a:rPr lang="en-GB" sz="1400" dirty="0">
                <a:latin typeface="Arial"/>
                <a:ea typeface="+mn-lt"/>
                <a:cs typeface="+mn-lt"/>
              </a:rPr>
              <a:t>3. A set of other CVSs which are generated along with output-sheet in the script and are needed for quality-check.</a:t>
            </a:r>
            <a:endParaRPr lang="en-GB" dirty="0">
              <a:latin typeface="Arial"/>
              <a:cs typeface="Arial"/>
            </a:endParaRPr>
          </a:p>
          <a:p>
            <a:pPr>
              <a:buNone/>
            </a:pPr>
            <a:r>
              <a:rPr lang="en-GB" sz="1400" dirty="0">
                <a:latin typeface="Arial"/>
                <a:ea typeface="+mn-lt"/>
                <a:cs typeface="+mn-lt"/>
              </a:rPr>
              <a:t>4. KPI requested by client is to weigh SKUs based on their space requirements. Then to find a variety of ratios based on Shelf-data for Shelf and Competitor SKUs.</a:t>
            </a:r>
            <a:endParaRPr lang="en-GB" dirty="0">
              <a:latin typeface="Arial"/>
              <a:ea typeface="+mn-lt"/>
              <a:cs typeface="Arial"/>
            </a:endParaRPr>
          </a:p>
          <a:p>
            <a:pPr>
              <a:buNone/>
            </a:pPr>
            <a:r>
              <a:rPr lang="en-GB" sz="1400" b="1" dirty="0">
                <a:latin typeface="Arial"/>
                <a:ea typeface="Calibri"/>
                <a:cs typeface="Calibri"/>
              </a:rPr>
              <a:t>ZIP file Link</a:t>
            </a:r>
            <a:r>
              <a:rPr lang="en-GB" sz="1400" dirty="0">
                <a:latin typeface="Arial"/>
                <a:ea typeface="Calibri"/>
                <a:cs typeface="Calibri"/>
              </a:rPr>
              <a:t> : </a:t>
            </a:r>
            <a:r>
              <a:rPr lang="en-GB" sz="1400" dirty="0">
                <a:ea typeface="+mn-lt"/>
                <a:cs typeface="+mn-lt"/>
                <a:hlinkClick r:id="rId2"/>
              </a:rPr>
              <a:t>EN18CS301232_PW2_Project_Code</a:t>
            </a:r>
          </a:p>
        </p:txBody>
      </p:sp>
    </p:spTree>
    <p:extLst>
      <p:ext uri="{BB962C8B-B14F-4D97-AF65-F5344CB8AC3E}">
        <p14:creationId xmlns:p14="http://schemas.microsoft.com/office/powerpoint/2010/main" val="647101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B32A67F-3598-4A13-8552-DA884FFCC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B3E428-A1A5-479D-9760-C64CA5FC566F}"/>
              </a:ext>
            </a:extLst>
          </p:cNvPr>
          <p:cNvSpPr>
            <a:spLocks noGrp="1"/>
          </p:cNvSpPr>
          <p:nvPr>
            <p:ph type="title"/>
          </p:nvPr>
        </p:nvSpPr>
        <p:spPr>
          <a:xfrm>
            <a:off x="804673" y="3320859"/>
            <a:ext cx="4573475" cy="2076333"/>
          </a:xfrm>
        </p:spPr>
        <p:txBody>
          <a:bodyPr vert="horz" lIns="91440" tIns="45720" rIns="91440" bIns="45720" rtlCol="0" anchor="t">
            <a:normAutofit/>
          </a:bodyPr>
          <a:lstStyle/>
          <a:p>
            <a:r>
              <a:rPr lang="en-US" sz="4800" kern="1200">
                <a:solidFill>
                  <a:schemeClr val="bg1"/>
                </a:solidFill>
                <a:latin typeface="+mj-lt"/>
                <a:ea typeface="+mj-ea"/>
                <a:cs typeface="+mj-cs"/>
              </a:rPr>
              <a:t>Thank You</a:t>
            </a:r>
          </a:p>
        </p:txBody>
      </p:sp>
      <p:sp>
        <p:nvSpPr>
          <p:cNvPr id="12" name="Freeform: Shape 11">
            <a:extLst>
              <a:ext uri="{FF2B5EF4-FFF2-40B4-BE49-F238E27FC236}">
                <a16:creationId xmlns:a16="http://schemas.microsoft.com/office/drawing/2014/main" id="{BCC55ACC-A2F6-403C-A3A4-D59B3734D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57312" y="381000"/>
            <a:ext cx="6334689" cy="6477000"/>
          </a:xfrm>
          <a:custGeom>
            <a:avLst/>
            <a:gdLst>
              <a:gd name="connsiteX0" fmla="*/ 3561588 w 6334689"/>
              <a:gd name="connsiteY0" fmla="*/ 0 h 6477000"/>
              <a:gd name="connsiteX1" fmla="*/ 6309883 w 6334689"/>
              <a:gd name="connsiteY1" fmla="*/ 1296087 h 6477000"/>
              <a:gd name="connsiteX2" fmla="*/ 6334689 w 6334689"/>
              <a:gd name="connsiteY2" fmla="*/ 1329261 h 6477000"/>
              <a:gd name="connsiteX3" fmla="*/ 6334689 w 6334689"/>
              <a:gd name="connsiteY3" fmla="*/ 5793916 h 6477000"/>
              <a:gd name="connsiteX4" fmla="*/ 6309883 w 6334689"/>
              <a:gd name="connsiteY4" fmla="*/ 5827089 h 6477000"/>
              <a:gd name="connsiteX5" fmla="*/ 5760467 w 6334689"/>
              <a:gd name="connsiteY5" fmla="*/ 6363539 h 6477000"/>
              <a:gd name="connsiteX6" fmla="*/ 5607796 w 6334689"/>
              <a:gd name="connsiteY6" fmla="*/ 6477000 h 6477000"/>
              <a:gd name="connsiteX7" fmla="*/ 1519571 w 6334689"/>
              <a:gd name="connsiteY7" fmla="*/ 6477000 h 6477000"/>
              <a:gd name="connsiteX8" fmla="*/ 1296088 w 6334689"/>
              <a:gd name="connsiteY8" fmla="*/ 6309883 h 6477000"/>
              <a:gd name="connsiteX9" fmla="*/ 0 w 6334689"/>
              <a:gd name="connsiteY9" fmla="*/ 3561588 h 6477000"/>
              <a:gd name="connsiteX10" fmla="*/ 3561588 w 6334689"/>
              <a:gd name="connsiteY10" fmla="*/ 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4689" h="6477000">
                <a:moveTo>
                  <a:pt x="3561588" y="0"/>
                </a:moveTo>
                <a:cubicBezTo>
                  <a:pt x="4668032" y="0"/>
                  <a:pt x="5656635" y="504534"/>
                  <a:pt x="6309883" y="1296087"/>
                </a:cubicBezTo>
                <a:lnTo>
                  <a:pt x="6334689" y="1329261"/>
                </a:lnTo>
                <a:lnTo>
                  <a:pt x="6334689" y="5793916"/>
                </a:lnTo>
                <a:lnTo>
                  <a:pt x="6309883" y="5827089"/>
                </a:lnTo>
                <a:cubicBezTo>
                  <a:pt x="6146571" y="6024977"/>
                  <a:pt x="5962299" y="6204927"/>
                  <a:pt x="5760467" y="6363539"/>
                </a:cubicBezTo>
                <a:lnTo>
                  <a:pt x="5607796" y="6477000"/>
                </a:lnTo>
                <a:lnTo>
                  <a:pt x="1519571" y="6477000"/>
                </a:lnTo>
                <a:lnTo>
                  <a:pt x="1296088" y="6309883"/>
                </a:lnTo>
                <a:cubicBezTo>
                  <a:pt x="504535" y="5656635"/>
                  <a:pt x="0" y="4668032"/>
                  <a:pt x="0" y="3561588"/>
                </a:cubicBezTo>
                <a:cubicBezTo>
                  <a:pt x="0" y="1594577"/>
                  <a:pt x="1594577" y="0"/>
                  <a:pt x="3561588" y="0"/>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598EBA13-C937-430B-9523-439FE21096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1086" y="544777"/>
            <a:ext cx="6170914" cy="6313225"/>
          </a:xfrm>
          <a:custGeom>
            <a:avLst/>
            <a:gdLst>
              <a:gd name="connsiteX0" fmla="*/ 3397813 w 6170914"/>
              <a:gd name="connsiteY0" fmla="*/ 0 h 6313225"/>
              <a:gd name="connsiteX1" fmla="*/ 6019731 w 6170914"/>
              <a:gd name="connsiteY1" fmla="*/ 1236489 h 6313225"/>
              <a:gd name="connsiteX2" fmla="*/ 6170914 w 6170914"/>
              <a:gd name="connsiteY2" fmla="*/ 1438663 h 6313225"/>
              <a:gd name="connsiteX3" fmla="*/ 6170914 w 6170914"/>
              <a:gd name="connsiteY3" fmla="*/ 5356963 h 6313225"/>
              <a:gd name="connsiteX4" fmla="*/ 6019731 w 6170914"/>
              <a:gd name="connsiteY4" fmla="*/ 5559138 h 6313225"/>
              <a:gd name="connsiteX5" fmla="*/ 5194591 w 6170914"/>
              <a:gd name="connsiteY5" fmla="*/ 6282226 h 6313225"/>
              <a:gd name="connsiteX6" fmla="*/ 5141791 w 6170914"/>
              <a:gd name="connsiteY6" fmla="*/ 6313225 h 6313225"/>
              <a:gd name="connsiteX7" fmla="*/ 1659199 w 6170914"/>
              <a:gd name="connsiteY7" fmla="*/ 6313225 h 6313225"/>
              <a:gd name="connsiteX8" fmla="*/ 1498064 w 6170914"/>
              <a:gd name="connsiteY8" fmla="*/ 6215333 h 6313225"/>
              <a:gd name="connsiteX9" fmla="*/ 0 w 6170914"/>
              <a:gd name="connsiteY9" fmla="*/ 3397813 h 6313225"/>
              <a:gd name="connsiteX10" fmla="*/ 3397813 w 6170914"/>
              <a:gd name="connsiteY10" fmla="*/ 0 h 631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70914" h="6313225">
                <a:moveTo>
                  <a:pt x="3397813" y="0"/>
                </a:moveTo>
                <a:cubicBezTo>
                  <a:pt x="4453378" y="0"/>
                  <a:pt x="5396522" y="481334"/>
                  <a:pt x="6019731" y="1236489"/>
                </a:cubicBezTo>
                <a:lnTo>
                  <a:pt x="6170914" y="1438663"/>
                </a:lnTo>
                <a:lnTo>
                  <a:pt x="6170914" y="5356963"/>
                </a:lnTo>
                <a:lnTo>
                  <a:pt x="6019731" y="5559138"/>
                </a:lnTo>
                <a:cubicBezTo>
                  <a:pt x="5786028" y="5842321"/>
                  <a:pt x="5507333" y="6086998"/>
                  <a:pt x="5194591" y="6282226"/>
                </a:cubicBezTo>
                <a:lnTo>
                  <a:pt x="5141791" y="6313225"/>
                </a:lnTo>
                <a:lnTo>
                  <a:pt x="1659199" y="6313225"/>
                </a:lnTo>
                <a:lnTo>
                  <a:pt x="1498064" y="6215333"/>
                </a:lnTo>
                <a:cubicBezTo>
                  <a:pt x="594240" y="5604721"/>
                  <a:pt x="0" y="4570663"/>
                  <a:pt x="0" y="3397813"/>
                </a:cubicBezTo>
                <a:cubicBezTo>
                  <a:pt x="0" y="1521253"/>
                  <a:pt x="1521253" y="0"/>
                  <a:pt x="33978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Handshake">
            <a:extLst>
              <a:ext uri="{FF2B5EF4-FFF2-40B4-BE49-F238E27FC236}">
                <a16:creationId xmlns:a16="http://schemas.microsoft.com/office/drawing/2014/main" id="{19F5B1D5-E842-4CA4-B71F-BF661433C7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10424" y="1845770"/>
            <a:ext cx="4333875" cy="4333875"/>
          </a:xfrm>
          <a:prstGeom prst="rect">
            <a:avLst/>
          </a:prstGeom>
        </p:spPr>
      </p:pic>
    </p:spTree>
    <p:extLst>
      <p:ext uri="{BB962C8B-B14F-4D97-AF65-F5344CB8AC3E}">
        <p14:creationId xmlns:p14="http://schemas.microsoft.com/office/powerpoint/2010/main" val="9802710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Project Work – II (Out-house) Session: Jan-May 2022</vt:lpstr>
      <vt:lpstr>Introduction</vt:lpstr>
      <vt:lpstr>Internship Details</vt:lpstr>
      <vt:lpstr>Company Documents</vt:lpstr>
      <vt:lpstr>Marketing Terminologies</vt:lpstr>
      <vt:lpstr>Marketing Terminologies</vt:lpstr>
      <vt:lpstr>Planogram -&gt;   Shelf -&gt;   SKUs -&gt;</vt:lpstr>
      <vt:lpstr>Company Work Profile</vt:lpstr>
      <vt:lpstr>Brief about Python</vt:lpstr>
      <vt:lpstr>Brief about MySQL and CSV</vt:lpstr>
      <vt:lpstr>My Tasks as Developer</vt:lpstr>
      <vt:lpstr>Project and Proposed Method</vt:lpstr>
      <vt:lpstr>PW-II Project Submission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1263</cp:revision>
  <dcterms:created xsi:type="dcterms:W3CDTF">2021-09-13T17:06:06Z</dcterms:created>
  <dcterms:modified xsi:type="dcterms:W3CDTF">2022-05-07T07:47:02Z</dcterms:modified>
</cp:coreProperties>
</file>